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i4c.mha.gov.in/" TargetMode="External"/><Relationship Id="rId5" Type="http://schemas.openxmlformats.org/officeDocument/2006/relationships/hyperlink" Target="https://cybercrime.gov.in/" TargetMode="External"/><Relationship Id="rId6" Type="http://schemas.openxmlformats.org/officeDocument/2006/relationships/hyperlink" Target="https://www.rbi.org.in/Scripts/BS_ViewMasDirections.aspx" TargetMode="External"/><Relationship Id="rId7" Type="http://schemas.openxmlformats.org/officeDocument/2006/relationships/hyperlink" Target="https://www.ncrb.gov.in/crime-in-india.html" TargetMode="External"/><Relationship Id="rId8" Type="http://schemas.openxmlformats.org/officeDocument/2006/relationships/hyperlink" Target="https://arxiv.org/abs/1706.02216" TargetMode="External"/><Relationship Id="rId9" Type="http://schemas.openxmlformats.org/officeDocument/2006/relationships/hyperlink" Target="https://arxiv.org/abs/1603.02754" TargetMode="External"/><Relationship Id="rId10" Type="http://schemas.openxmlformats.org/officeDocument/2006/relationships/hyperlink" Target="https://arxiv.org/abs/1908.02591" TargetMode="External"/><Relationship Id="rId11" Type="http://schemas.openxmlformats.org/officeDocument/2006/relationships/hyperlink" Target="https://github.com/hotshot0104/SIH2026" TargetMode="External"/><Relationship Id="rId12" Type="http://schemas.openxmlformats.org/officeDocument/2006/relationships/hyperlink" Target="https://dev.to/sameer0104/muleshield-ai-intercepting-cybercrime-cash-outs-before-the-trail-goes-cold-232g" TargetMode="External"/><Relationship Id="rId1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29184" y="19659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3B3B"/>
                </a:solidFill>
                <a:latin typeface="Calibri"/>
              </a:rPr>
              <a:t>Problem Statement ID –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SIH26184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333B3B"/>
                </a:solidFill>
                <a:latin typeface="Calibri"/>
              </a:rPr>
              <a:t>Problem Statement Title – </a:t>
            </a:r>
            <a:r>
              <a:rPr sz="1300" b="1" i="0">
                <a:solidFill>
                  <a:srgbClr val="0F1111"/>
                </a:solidFill>
                <a:latin typeface="Calibri"/>
              </a:rPr>
              <a:t>Development of a Predictive Analytics Framework for Cybercrime Complaints to Forecast Likely Cash Withdrawal Locations in Advance, Enabling Generation of Actionable Intelligence for Timely and Proactive Cybercrime Intervention.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3B3B"/>
                </a:solidFill>
                <a:latin typeface="Calibri"/>
              </a:rPr>
              <a:t>Theme –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Blockchain &amp; Cybersecurity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3B3B"/>
                </a:solidFill>
                <a:latin typeface="Calibri"/>
              </a:rPr>
              <a:t>PS Category –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Software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333B3B"/>
                </a:solidFill>
                <a:latin typeface="Calibri"/>
              </a:rPr>
              <a:t>Team ID –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[TEAM ID]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B3B"/>
                </a:solidFill>
                <a:latin typeface="Calibri"/>
              </a:rPr>
              <a:t>Team Name –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[TEAM NAME]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2100" b="1" i="0">
                <a:solidFill>
                  <a:srgbClr val="3D8B00"/>
                </a:solidFill>
                <a:latin typeface="Calibri"/>
              </a:rPr>
              <a:t>MuleShield AI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B7474"/>
                </a:solidFill>
                <a:latin typeface="Calibri"/>
              </a:rPr>
              <a:t>Forecasting where stolen money will be withdrawn — while there is still time to stop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>
                <a:latin typeface="Calibri"/>
              </a:rPr>
              <a:t>[TEAM
NAME]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TextBox 15361"/>
          <p:cNvSpPr txBox="1"/>
          <p:nvPr/>
        </p:nvSpPr>
        <p:spPr>
          <a:xfrm>
            <a:off x="329184" y="1188720"/>
            <a:ext cx="5074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600" b="1" i="0">
                <a:solidFill>
                  <a:srgbClr val="0F1111"/>
                </a:solidFill>
                <a:latin typeface="Calibri"/>
              </a:rPr>
              <a:t>Proposed solution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200" b="1" i="0">
                <a:solidFill>
                  <a:srgbClr val="0F1111"/>
                </a:solidFill>
                <a:latin typeface="Calibri"/>
              </a:rPr>
              <a:t>The gap: </a:t>
            </a:r>
            <a:r>
              <a:rPr sz="1200" b="0" i="0">
                <a:solidFill>
                  <a:srgbClr val="333B3B"/>
                </a:solidFill>
                <a:latin typeface="Calibri"/>
              </a:rPr>
              <a:t>a 1930 complaint tells you a crime happened. It does not tell you where the cash will leave the system, or when.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200" b="1" i="0">
                <a:solidFill>
                  <a:srgbClr val="0F1111"/>
                </a:solidFill>
                <a:latin typeface="Calibri"/>
              </a:rPr>
              <a:t>MuleShield AI </a:t>
            </a:r>
            <a:r>
              <a:rPr sz="1200" b="0" i="0">
                <a:solidFill>
                  <a:srgbClr val="333B3B"/>
                </a:solidFill>
                <a:latin typeface="Calibri"/>
              </a:rPr>
              <a:t>turns that complaint into a ranked, time-bounded search: five ATMs, in order, with a countdown.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6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600" b="1" i="0">
                <a:solidFill>
                  <a:srgbClr val="0F1111"/>
                </a:solidFill>
                <a:latin typeface="Calibri"/>
              </a:rPr>
              <a:t>How it addresses the problem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200" b="1" i="0">
                <a:solidFill>
                  <a:srgbClr val="0F1111"/>
                </a:solidFill>
                <a:latin typeface="Calibri"/>
              </a:rPr>
              <a:t>Traces the money. </a:t>
            </a:r>
            <a:r>
              <a:rPr sz="1200" b="0" i="0">
                <a:solidFill>
                  <a:srgbClr val="333B3B"/>
                </a:solidFill>
                <a:latin typeface="Calibri"/>
              </a:rPr>
              <a:t>Builds the transaction graph and follows the chain to the mule account still holding the funds.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200" b="1" i="0">
                <a:solidFill>
                  <a:srgbClr val="0F1111"/>
                </a:solidFill>
                <a:latin typeface="Calibri"/>
              </a:rPr>
              <a:t>Scores every account. </a:t>
            </a:r>
            <a:r>
              <a:rPr sz="1200" b="0" i="0">
                <a:solidFill>
                  <a:srgbClr val="333B3B"/>
                </a:solidFill>
                <a:latin typeface="Calibri"/>
              </a:rPr>
              <a:t>A GraphSAGE network reads who-paid-whom, not just per-account behaviour — F1 0.8955.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200" b="1" i="0">
                <a:solidFill>
                  <a:srgbClr val="0F1111"/>
                </a:solidFill>
                <a:latin typeface="Calibri"/>
              </a:rPr>
              <a:t>Narrows the ground. </a:t>
            </a:r>
            <a:r>
              <a:rPr sz="1200" b="0" i="0">
                <a:solidFill>
                  <a:srgbClr val="333B3B"/>
                </a:solidFill>
                <a:latin typeface="Calibri"/>
              </a:rPr>
              <a:t>1,000 ATMs → 25 reachable → 5 worth searching, in 7.5 ms.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200" b="1" i="0">
                <a:solidFill>
                  <a:srgbClr val="0F1111"/>
                </a:solidFill>
                <a:latin typeface="Calibri"/>
              </a:rPr>
              <a:t>Starts the clock. </a:t>
            </a:r>
            <a:r>
              <a:rPr sz="1200" b="0" i="0">
                <a:solidFill>
                  <a:srgbClr val="333B3B"/>
                </a:solidFill>
                <a:latin typeface="Calibri"/>
              </a:rPr>
              <a:t>Median 42 minutes of warning before the predicted withdrawal.</a:t>
            </a:r>
          </a:p>
        </p:txBody>
      </p:sp>
      <p:pic>
        <p:nvPicPr>
          <p:cNvPr id="15363" name="Picture 15362" descr="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234440"/>
            <a:ext cx="5897880" cy="3407664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5623560" y="4754880"/>
            <a:ext cx="6080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Innovation and uniqueness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50" b="1" i="0">
                <a:solidFill>
                  <a:srgbClr val="0F1111"/>
                </a:solidFill>
                <a:latin typeface="Calibri"/>
              </a:rPr>
              <a:t>Ranked retrieval, not a guess </a:t>
            </a:r>
            <a:r>
              <a:rPr sz="1050" b="0" i="0">
                <a:solidFill>
                  <a:srgbClr val="333B3B"/>
                </a:solidFill>
                <a:latin typeface="Calibri"/>
              </a:rPr>
              <a:t>— a list a field team can cover, never one predicted ATM.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50" b="1" i="0">
                <a:solidFill>
                  <a:srgbClr val="0F1111"/>
                </a:solidFill>
                <a:latin typeface="Calibri"/>
              </a:rPr>
              <a:t>Graph-native detection </a:t>
            </a:r>
            <a:r>
              <a:rPr sz="1050" b="0" i="0">
                <a:solidFill>
                  <a:srgbClr val="333B3B"/>
                </a:solidFill>
                <a:latin typeface="Calibri"/>
              </a:rPr>
              <a:t>— the graph is worth +5 F1 points over the best non-graph model.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50" b="1" i="0">
                <a:solidFill>
                  <a:srgbClr val="0F1111"/>
                </a:solidFill>
                <a:latin typeface="Calibri"/>
              </a:rPr>
              <a:t>Original IEEE research </a:t>
            </a:r>
            <a:r>
              <a:rPr sz="1050" b="0" i="0">
                <a:solidFill>
                  <a:srgbClr val="333B3B"/>
                </a:solidFill>
                <a:latin typeface="Calibri"/>
              </a:rPr>
              <a:t>— formulated in a formal manuscript; reaches theoretical Bayes Bound (87.3%).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50" b="1" i="0">
                <a:solidFill>
                  <a:srgbClr val="0F1111"/>
                </a:solidFill>
                <a:latin typeface="Calibri"/>
              </a:rPr>
              <a:t>Zero new data </a:t>
            </a:r>
            <a:r>
              <a:rPr sz="1050" b="0" i="0">
                <a:solidFill>
                  <a:srgbClr val="333B3B"/>
                </a:solidFill>
                <a:latin typeface="Calibri"/>
              </a:rPr>
              <a:t>— runs on the fields an NCRP complaint already carries.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>
                <a:latin typeface="Calibri"/>
              </a:rPr>
              <a:t>[TEAM
NAME]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Technologies used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ML: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PyTorch · PyTorch Geometric (GraphSAGE) · XGBoost v2 · scikit-learn · NetworkX · pandas / NumPy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Backend: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Python 3.13 · FastAPI · Uvicorn · Pydantic · WebSockets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Frontend: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React 19 · Vite · Tailwind · Leaflet (GIS) · React Flow · Recharts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Quality: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pytest (291 tests) · Playwright · Docker (single container, single process)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9184" y="265176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111"/>
                </a:solidFill>
                <a:latin typeface="Calibri"/>
              </a:rPr>
              <a:t>Working prototype — the case queue</a:t>
            </a:r>
          </a:p>
        </p:txBody>
      </p:sp>
      <p:pic>
        <p:nvPicPr>
          <p:cNvPr id="17412" name="Picture 17411" descr="01-case-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3017520"/>
            <a:ext cx="5212080" cy="325755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5806440" y="1188720"/>
            <a:ext cx="5897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111"/>
                </a:solidFill>
                <a:latin typeface="Calibri"/>
              </a:rPr>
              <a:t>Methodology and implementation</a:t>
            </a:r>
          </a:p>
        </p:txBody>
      </p:sp>
      <p:pic>
        <p:nvPicPr>
          <p:cNvPr id="17414" name="Picture 17413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1572768"/>
            <a:ext cx="5376672" cy="4670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>
                <a:latin typeface="Calibri"/>
              </a:rPr>
              <a:t>[TEAM
NAME]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5074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Feasibility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Technical: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already built and measured — 291 passing tests, 7.5 ms inference, runs on one CPU container.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Data: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consumes the fields NCRP already collects; no new citizen-facing process.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Operational: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delivers into the existing 1930 workflow — a queue, a case, an action, an audit trail.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Economic: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open-source stack end to end; one container, no GPU at inference.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Challenges and how we handle them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Leakage inflating results.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Found in our own first build (98.5% claimed). Rebuilt the generator, re-baselined, and added a test that fails if a retracted figure returns.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A model that looks confident and is wrong.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Isotonic calibration, verified against held-out labels by a dedicated test.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Synthetic training data.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Generated to be hard — 2% label noise, overlapping classes, complaint-level splits. Pipeline retrains on real I4C data unchanged.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Acting on a wrong location.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The system returns candidates, never a verdict; the UI and every dispatch alert say so.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Single-process state.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Documented limit — case state is in-memory; a database swap is a day's work when multi-user is needed.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50" b="1" i="0">
                <a:solidFill>
                  <a:srgbClr val="0F1111"/>
                </a:solidFill>
                <a:latin typeface="Calibri"/>
              </a:rPr>
              <a:t>No inter-bank feed today. </a:t>
            </a:r>
            <a:r>
              <a:rPr sz="1050" b="0" i="0">
                <a:solidFill>
                  <a:srgbClr val="333B3B"/>
                </a:solidFill>
                <a:latin typeface="Calibri"/>
              </a:rPr>
              <a:t>A live complaint carries no transaction trail; production consumes the RBI/NPCI trace-and-report pipeline already being built for CFCFRMS. The demo synthesises that one input on real graph accounts so every downstream prediction is genuine.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623560" y="1188720"/>
            <a:ext cx="6080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111"/>
                </a:solidFill>
                <a:latin typeface="Calibri"/>
              </a:rPr>
              <a:t>Viability — measured, not asserted</a:t>
            </a:r>
          </a:p>
        </p:txBody>
      </p:sp>
      <p:pic>
        <p:nvPicPr>
          <p:cNvPr id="17412" name="Picture 17411" descr="Model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591056"/>
            <a:ext cx="6080760" cy="457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>
                <a:latin typeface="Calibri"/>
              </a:rPr>
              <a:t>[TEAM
NAME]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3977639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Who it affects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Victims of cyber-financial fraud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— 1930 / NCRP callers, nationwide.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Cyber-crime police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acting inside the golden hour.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I4C and MHA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— pattern intelligence across cases, not one complaint at a time.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Banks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receiving a specific account to freeze.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Benefits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Social: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recovery becomes possible for ordinary complainants, not only large-value cases.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Economic: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cash stopped before withdrawal is money recovered; narrower freezes mean fewer legitimate accounts locked.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Operational: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finite patrol capacity aimed at 5 locations instead of a district.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Governance: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every freeze and dispatch attributed, timestamped and auditable.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15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50" b="1" i="0">
                <a:solidFill>
                  <a:srgbClr val="0F1111"/>
                </a:solidFill>
                <a:latin typeface="Calibri"/>
              </a:rPr>
              <a:t>Strategic: </a:t>
            </a:r>
            <a:r>
              <a:rPr sz="1150" b="0" i="0">
                <a:solidFill>
                  <a:srgbClr val="333B3B"/>
                </a:solidFill>
                <a:latin typeface="Calibri"/>
              </a:rPr>
              <a:t>recurring cash-out ATMs surface across cases — the mule network, not just the incident.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050" b="0" i="1">
                <a:solidFill>
                  <a:srgbClr val="6B7474"/>
                </a:solidFill>
                <a:latin typeface="Calibri"/>
              </a:rPr>
              <a:t>Impact figures are held-out measurements, not projections.</a:t>
            </a:r>
          </a:p>
        </p:txBody>
      </p:sp>
      <p:pic>
        <p:nvPicPr>
          <p:cNvPr id="17411" name="Picture 17410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261872"/>
            <a:ext cx="7178040" cy="438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>
                <a:latin typeface="Calibri"/>
              </a:rPr>
              <a:t>[TEAM
NAME]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56235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Problem context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I4C, MHA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Indian Cyber Crime Coordination Centre; 1930 helpline and the NCRP complaint pipeline this system consumes.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50" b="0" i="1" u="sng">
                <a:solidFill>
                  <a:srgbClr val="2F6B00"/>
                </a:solidFill>
                <a:latin typeface="Calibri"/>
                <a:hlinkClick r:id="rId4"/>
              </a:rPr>
              <a:t>https://i4c.mha.gov.in/</a:t>
            </a:r>
            <a:r>
              <a:rPr sz="1050" b="0" i="0">
                <a:solidFill>
                  <a:srgbClr val="6B7474"/>
                </a:solidFill>
                <a:latin typeface="Calibri"/>
              </a:rPr>
              <a:t>  ·  </a:t>
            </a:r>
            <a:r>
              <a:rPr sz="1050" b="0" i="1" u="sng">
                <a:solidFill>
                  <a:srgbClr val="2F6B00"/>
                </a:solidFill>
                <a:latin typeface="Calibri"/>
                <a:hlinkClick r:id="rId5"/>
              </a:rPr>
              <a:t>https://cybercrime.gov.in/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RBI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Master Directions on Fraud Risk Management and mule-account controls in commercial banks.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50" b="0" i="1" u="sng">
                <a:solidFill>
                  <a:srgbClr val="2F6B00"/>
                </a:solidFill>
                <a:latin typeface="Calibri"/>
                <a:hlinkClick r:id="rId6"/>
              </a:rPr>
              <a:t>https://www.rbi.org.in/Scripts/BS_ViewMasDirections.aspx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NCRB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Crime in India: cyber-fraud incidence and disposal statistics used to frame the golden-hour problem.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50" b="0" i="1" u="sng">
                <a:solidFill>
                  <a:srgbClr val="2F6B00"/>
                </a:solidFill>
                <a:latin typeface="Calibri"/>
                <a:hlinkClick r:id="rId7"/>
              </a:rPr>
              <a:t>https://www.ncrb.gov.in/crime-in-india.html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Methods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Hamilton, Ying &amp; Leskovec (2017)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Inductive Representation Learning on Large Graphs (GraphSAGE). The detection model.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50" b="0" i="1" u="sng">
                <a:solidFill>
                  <a:srgbClr val="2F6B00"/>
                </a:solidFill>
                <a:latin typeface="Calibri"/>
                <a:hlinkClick r:id="rId8"/>
              </a:rPr>
              <a:t>https://arxiv.org/abs/1706.02216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411" name="TextBox 17410"/>
          <p:cNvSpPr txBox="1"/>
          <p:nvPr/>
        </p:nvSpPr>
        <p:spPr>
          <a:xfrm>
            <a:off x="6172200" y="1188720"/>
            <a:ext cx="55321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500" b="1" i="0">
                <a:solidFill>
                  <a:srgbClr val="0F1111"/>
                </a:solidFill>
                <a:latin typeface="Calibri"/>
              </a:rPr>
              <a:t>Methods (continued)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McFadden (1974)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Conditional Logit Analysis of Qualitative Choice Behavior. The discrete-choice basis of the ATM ranker.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Chen &amp; Guestrin (2016)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XGBoost: A Scalable Tree Boosting System. The countdown regressor.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50" b="0" i="1" u="sng">
                <a:solidFill>
                  <a:srgbClr val="2F6B00"/>
                </a:solidFill>
                <a:latin typeface="Calibri"/>
                <a:hlinkClick r:id="rId9"/>
              </a:rPr>
              <a:t>https://arxiv.org/abs/1603.02754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Zadrozny &amp; Elkan (2002)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Transforming classifier scores into accurate multiclass probability estimates. Isotonic calibration.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100" b="1" i="0">
                <a:solidFill>
                  <a:srgbClr val="0F1111"/>
                </a:solidFill>
                <a:latin typeface="Calibri"/>
              </a:rPr>
              <a:t>Weber et al. (2019) </a:t>
            </a:r>
            <a:r>
              <a:rPr sz="1100" b="0" i="0">
                <a:solidFill>
                  <a:srgbClr val="333B3B"/>
                </a:solidFill>
                <a:latin typeface="Calibri"/>
              </a:rPr>
              <a:t>— Anti-Money Laundering in Bitcoin: GCNs for financial forensics. Precedent for GNNs on laundering graphs.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50" b="0" i="1" u="sng">
                <a:solidFill>
                  <a:srgbClr val="2F6B00"/>
                </a:solidFill>
                <a:latin typeface="Calibri"/>
                <a:hlinkClick r:id="rId10"/>
              </a:rPr>
              <a:t>https://arxiv.org/abs/1908.02591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400" b="1" i="0">
                <a:solidFill>
                  <a:srgbClr val="3D8B00"/>
                </a:solidFill>
                <a:latin typeface="Calibri"/>
              </a:rPr>
              <a:t>▬ </a:t>
            </a:r>
            <a:r>
              <a:rPr sz="1400" b="1" i="0">
                <a:solidFill>
                  <a:srgbClr val="0F1111"/>
                </a:solidFill>
                <a:latin typeface="Calibri"/>
              </a:rPr>
              <a:t>Original research &amp; source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00" b="1" i="0">
                <a:solidFill>
                  <a:srgbClr val="0F1111"/>
                </a:solidFill>
                <a:latin typeface="Calibri"/>
              </a:rPr>
              <a:t>Sameer K. Singh (PSIT) </a:t>
            </a:r>
            <a:r>
              <a:rPr sz="1000" b="0" i="0">
                <a:solidFill>
                  <a:srgbClr val="333B3B"/>
                </a:solidFill>
                <a:latin typeface="Calibri"/>
              </a:rPr>
              <a:t>— 'Forecasting the Physical Exit: A Spatio-Temporal Graph Framework' (IEEE Manuscript, 2026).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3D8B00"/>
                </a:solidFill>
                <a:latin typeface="Calibri"/>
              </a:rPr>
              <a:t>▪ </a:t>
            </a:r>
            <a:r>
              <a:rPr sz="1000" b="1" i="0">
                <a:solidFill>
                  <a:srgbClr val="0F1111"/>
                </a:solidFill>
                <a:latin typeface="Calibri"/>
              </a:rPr>
              <a:t>Code &amp; System Audit </a:t>
            </a:r>
            <a:r>
              <a:rPr sz="1000" b="0" i="0">
                <a:solidFill>
                  <a:srgbClr val="333B3B"/>
                </a:solidFill>
                <a:latin typeface="Calibri"/>
              </a:rPr>
              <a:t>— 291 tests, 5.2 ms inference, ISO 8583/20022 specs, BSA 2023 §63 audit.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00" b="0" i="1" u="sng">
                <a:solidFill>
                  <a:srgbClr val="2F6B00"/>
                </a:solidFill>
                <a:latin typeface="Calibri"/>
                <a:hlinkClick r:id="rId11"/>
              </a:rPr>
              <a:t>https://github.com/hotshot0104/SIH2026</a:t>
            </a:r>
            <a:r>
              <a:rPr sz="900" b="0" i="0">
                <a:solidFill>
                  <a:srgbClr val="6B7474"/>
                </a:solidFill>
                <a:latin typeface="Calibri"/>
              </a:rPr>
              <a:t>  ·  </a:t>
            </a:r>
            <a:r>
              <a:rPr sz="900" b="0" i="1" u="sng">
                <a:solidFill>
                  <a:srgbClr val="2F6B00"/>
                </a:solidFill>
                <a:latin typeface="Calibri"/>
                <a:hlinkClick r:id="rId12"/>
              </a:rPr>
              <a:t>https://dev.to/sameer0104/muleshield-ai-intercepting-cybercrime-cash-outs-before-the-trail-goes-cold-232g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7412" name="Picture 17411" descr="Formula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" y="4572000"/>
            <a:ext cx="10058400" cy="168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